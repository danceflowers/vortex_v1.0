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268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961" y="-311051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数据通路1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417320" y="507365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随流水显式前传；每个 K-step 末端生成 D，再经 dmem / TMEM / TMA 回送作为下一次 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" y="109728"/>
            <a:ext cx="1078992" cy="6126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64592"/>
            <a:ext cx="74980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 Stream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749808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84832"/>
            <a:ext cx="502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s_axis_t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data_a/b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3520440"/>
            <a:ext cx="749808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069080"/>
            <a:ext cx="502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s_axis_t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data_c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" y="5193792"/>
            <a:ext cx="1078992" cy="10424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358384"/>
            <a:ext cx="548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07592" y="731520"/>
            <a:ext cx="9116568" cy="5394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201168"/>
            <a:ext cx="3840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tensor_core(1 个 mm_mul_add)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417320" y="914400"/>
            <a:ext cx="109728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078992"/>
            <a:ext cx="548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27632" y="1444752"/>
            <a:ext cx="6583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1746504"/>
            <a:ext cx="4389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A0 / B0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27632" y="2578608"/>
            <a:ext cx="6583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6232" y="2871216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27632" y="3675888"/>
            <a:ext cx="6583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56232" y="4005072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55648" y="5074920"/>
            <a:ext cx="40233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TMA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MMA_LOAD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33472" y="1463040"/>
            <a:ext cx="96012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1517904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行优先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98064" y="1755648"/>
            <a:ext cx="4572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1901952"/>
            <a:ext cx="365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(fp9)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98064" y="2359152"/>
            <a:ext cx="4572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2505456"/>
            <a:ext cx="365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(fp9)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2491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to_intype_con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98064" y="3401568"/>
            <a:ext cx="4572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3456432"/>
            <a:ext cx="41148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(fp8-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fp32)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70632" y="4133088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to_next_con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64408" y="2251963"/>
            <a:ext cx="8229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读取后转置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22192" y="1170432"/>
            <a:ext cx="5833872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1115568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mm_mul_add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1353312"/>
            <a:ext cx="5330952" cy="42245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1207008"/>
            <a:ext cx="23774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(SHAPE_M*SHAPE_N 个点积运算单元)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77640" y="1371600"/>
            <a:ext cx="256032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mm_mul_add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81728" y="1591056"/>
            <a:ext cx="1463040" cy="15910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2148840"/>
            <a:ext cx="8961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tc_mul_pipe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(fp9e5m3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-&gt;fp14e6m7)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99432" y="1444752"/>
            <a:ext cx="12435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(SHAPE_K 个乘法器)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37960" y="1591056"/>
            <a:ext cx="1508760" cy="15910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2148840"/>
            <a:ext cx="97840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tc_add4_pipe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(fp14e6m7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-&gt;fp22e8m13)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82512" y="144475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个 4 输入法器)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416036" y="1430782"/>
            <a:ext cx="1069848" cy="29626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34400" y="2519172"/>
            <a:ext cx="85953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tc_add_pipe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(fp22e8m13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-&gt;fp22e8m13)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12480" y="1261872"/>
            <a:ext cx="12344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个 2 输入法器)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360152" y="731520"/>
            <a:ext cx="1152144" cy="5394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69880" y="2322576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to_outtype_con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607040" y="3218688"/>
            <a:ext cx="685800" cy="12984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16768" y="3675888"/>
            <a:ext cx="457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(fp8,fp16)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32688" y="1783080"/>
            <a:ext cx="66751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051560" y="158191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A/B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32688" y="2962656"/>
            <a:ext cx="66751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1124712" y="2761488"/>
            <a:ext cx="182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0" y="1664208"/>
            <a:ext cx="3474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286000" y="2267712"/>
            <a:ext cx="3474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286000" y="3712464"/>
            <a:ext cx="3474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255264" y="2066544"/>
            <a:ext cx="1426464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3566160" y="1856232"/>
            <a:ext cx="320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55264" y="2670048"/>
            <a:ext cx="1426464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3566160" y="2459736"/>
            <a:ext cx="320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576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55264" y="3730752"/>
            <a:ext cx="51607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4681728" y="3511296"/>
            <a:ext cx="411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1408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44768" y="2386584"/>
            <a:ext cx="39319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046720" y="2386584"/>
            <a:ext cx="338328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491472" y="2770632"/>
            <a:ext cx="86868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9857232" y="2578608"/>
            <a:ext cx="4023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1408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972800" y="4526280"/>
            <a:ext cx="0" cy="109728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737360" y="5577840"/>
            <a:ext cx="923544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headEnd type="triangl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737360" y="3218688"/>
            <a:ext cx="0" cy="2359152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905256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需回送为下一次 C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(dmem -&gt; TMEM/TMA -&gt; cmem)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852357" y="6245352"/>
            <a:ext cx="51206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问题： m16n8 仅有两个 8x8 输出 subtile，K 维 recurrence distance = 2；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若 D 需绕远路回送，容易出现流水气泡。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555" y="-35816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数据通路2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446767" y="3931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先装入 cmem，本地持续累加；K 维期间仅 A/B 进入乘法流水，tile 结束后再统一写出 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" y="109728"/>
            <a:ext cx="1078992" cy="6126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64592"/>
            <a:ext cx="74980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 Stream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749808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84832"/>
            <a:ext cx="502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s_axis_t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data_a/b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3520440"/>
            <a:ext cx="749808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069080"/>
            <a:ext cx="5029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s_axis_t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data_c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" y="5193792"/>
            <a:ext cx="1078992" cy="10424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358384"/>
            <a:ext cx="5486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35024" y="731520"/>
            <a:ext cx="9089136" cy="5394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5940" y="54864"/>
            <a:ext cx="38404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tensor_core(1 个 mm_mul_add)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417320" y="914400"/>
            <a:ext cx="109728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0784" y="1078992"/>
            <a:ext cx="548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27632" y="1444752"/>
            <a:ext cx="6583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1746504"/>
            <a:ext cx="43891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A0 / B0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09344" y="2944368"/>
            <a:ext cx="6583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1368" y="3273552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55648" y="5074920"/>
            <a:ext cx="40233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TMA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MMA_LOAD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33472" y="1463040"/>
            <a:ext cx="867664" cy="34772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Text 20"/>
          <p:cNvSpPr/>
          <p:nvPr/>
        </p:nvSpPr>
        <p:spPr>
          <a:xfrm>
            <a:off x="2816352" y="1517904"/>
            <a:ext cx="2743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行优先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98064" y="1755648"/>
            <a:ext cx="4572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1901952"/>
            <a:ext cx="365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(fp9)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98064" y="2359152"/>
            <a:ext cx="4572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2505456"/>
            <a:ext cx="365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(fp9)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2491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to_intype_con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98064" y="3401568"/>
            <a:ext cx="457200" cy="6035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3784" y="3517900"/>
            <a:ext cx="365760" cy="31051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(acc</a:t>
            </a:r>
            <a:r>
              <a:rPr lang="zh-CN" alt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，</a:t>
            </a:r>
            <a:r>
              <a:rPr lang="en-US" altLang="zh-CN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fp22</a:t>
            </a: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4069080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维常驻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70632" y="4251960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11111"/>
                </a:solidFill>
                <a:latin typeface="Times New Roman" pitchFamily="34" charset="0"/>
                <a:cs typeface="Times New Roman" pitchFamily="34" charset="-120"/>
              </a:rPr>
              <a:t>to_next_con</a:t>
            </a:r>
            <a:endParaRPr lang="en-US" sz="1000" b="1" dirty="0">
              <a:solidFill>
                <a:srgbClr val="111111"/>
              </a:solidFill>
              <a:latin typeface="Times New Roman" pitchFamily="34" charset="0"/>
              <a:cs typeface="Times New Roman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822192" y="1170432"/>
            <a:ext cx="5833872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1115568"/>
            <a:ext cx="1097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mm_mul_add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60520" y="1353312"/>
            <a:ext cx="5330952" cy="42245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1207008"/>
            <a:ext cx="23774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(SHAPE_M*SHAPE_N 个点积运算单元)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81728" y="1591056"/>
            <a:ext cx="1463040" cy="15910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2148840"/>
            <a:ext cx="896112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tc_mul_pipe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(fp9e5m3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-&gt;fp14e6m7)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99432" y="1444752"/>
            <a:ext cx="1243584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(SHAPE_K 个乘法器)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37960" y="1591056"/>
            <a:ext cx="1508760" cy="15910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03136" y="2148840"/>
            <a:ext cx="97840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tc_add4_pipe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(fp14e6m7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-&gt;fp22e8m13)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82512" y="1444752"/>
            <a:ext cx="1325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个 4 输入法器)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549640" y="1389888"/>
            <a:ext cx="941832" cy="29626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25764" y="2373630"/>
            <a:ext cx="104241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accumulate to cmem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(local accumulation)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11374" y="4502403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to_outtype_con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32688" y="1783080"/>
            <a:ext cx="66751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051560" y="158191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A/B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2688" y="2962656"/>
            <a:ext cx="66751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124712" y="2761488"/>
            <a:ext cx="182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0" y="1664208"/>
            <a:ext cx="3474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286000" y="2267712"/>
            <a:ext cx="3474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286000" y="3712464"/>
            <a:ext cx="34747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255264" y="2066544"/>
            <a:ext cx="1426464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3566160" y="1856232"/>
            <a:ext cx="320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55264" y="2670048"/>
            <a:ext cx="1426464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3566160" y="2459736"/>
            <a:ext cx="3200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32704" y="3666744"/>
            <a:ext cx="4114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1408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44768" y="2386584"/>
            <a:ext cx="393192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046720" y="2386584"/>
            <a:ext cx="5029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902952" y="2852928"/>
            <a:ext cx="0" cy="0"/>
          </a:xfrm>
          <a:prstGeom prst="line">
            <a:avLst/>
          </a:prstGeom>
          <a:noFill/>
          <a:ln w="17780">
            <a:solidFill>
              <a:srgbClr val="CC0000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5577840" y="4555489"/>
            <a:ext cx="19202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partial product 直接加到 cmem，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K-loop 内不再绕回 dmem / TMEM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697251" y="6281928"/>
            <a:ext cx="44805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优势： recurrence 路径短，m16n8 仅 2 个输出 subtile 也能持续喂流水。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13816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对外语义仍可保持 D = C + A*B；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对内实现采用 output-stationary。</a:t>
            </a:r>
            <a:endParaRPr lang="en-US" sz="900" dirty="0"/>
          </a:p>
        </p:txBody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560834C8-DAD2-1C03-A6C4-706381825EB2}"/>
              </a:ext>
            </a:extLst>
          </p:cNvPr>
          <p:cNvSpPr/>
          <p:nvPr/>
        </p:nvSpPr>
        <p:spPr>
          <a:xfrm>
            <a:off x="1599184" y="4023360"/>
            <a:ext cx="65836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6A63A4A4-D81E-EEC5-5063-DBB7261A4DEA}"/>
              </a:ext>
            </a:extLst>
          </p:cNvPr>
          <p:cNvSpPr/>
          <p:nvPr/>
        </p:nvSpPr>
        <p:spPr>
          <a:xfrm>
            <a:off x="1827784" y="4315968"/>
            <a:ext cx="20116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D0</a:t>
            </a:r>
            <a:endParaRPr lang="en-US" sz="13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9434937-431C-8F10-BAA6-8D25F4875F25}"/>
              </a:ext>
            </a:extLst>
          </p:cNvPr>
          <p:cNvCxnSpPr/>
          <p:nvPr/>
        </p:nvCxnSpPr>
        <p:spPr>
          <a:xfrm flipH="1">
            <a:off x="3255264" y="3873500"/>
            <a:ext cx="5294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m16n8k16 下 4 个 primitive 的 issue 顺序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56032" y="41148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primitive 固定为 8×8×8；输出仅有两个 8×8 subtile，因此 K 维 recurrence distance =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240280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640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问题拆分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目标 shape： m16 n8 k16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10972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primitive： 8×8×8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1887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维：16 -&gt; 2 块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维：8  -&gt; 1 块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维：16 -&gt; 2 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70048"/>
            <a:ext cx="10972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共 4 个 primitive：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× 1 × 2 = 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1417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输出 subtile 仅有两块：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C0 = top 8×8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C1 = bottom 8×8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因此 issue </a:t>
            </a:r>
            <a:r>
              <a:rPr lang="en-US" sz="1100" b="1" dirty="0" err="1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顺序是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C0, C1, C0, C1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4663440"/>
            <a:ext cx="1554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若每次都要把 D 绕远路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再送回作为 C，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recurrence 很容易卡吞吐。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960120"/>
            <a:ext cx="274320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078992"/>
            <a:ext cx="11887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输出 tile (m16 × n8)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29000" y="1554480"/>
            <a:ext cx="1234440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700784"/>
            <a:ext cx="5943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(top 8×8)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9000" y="2121408"/>
            <a:ext cx="1234440" cy="5669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(bottom 8×8)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2697480"/>
            <a:ext cx="1920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每个 subtile 都要经历 K0 和 K1 两次累加。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868680"/>
            <a:ext cx="5760720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987552"/>
            <a:ext cx="2011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Primitive issue timeline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1828800"/>
            <a:ext cx="475488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537960" y="1737360"/>
            <a:ext cx="0" cy="146304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6355080" y="1490472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011680"/>
            <a:ext cx="713232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53528" y="1737360"/>
            <a:ext cx="0" cy="146304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7470648" y="1490472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79208" y="2011680"/>
            <a:ext cx="713232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69096" y="1737360"/>
            <a:ext cx="0" cy="146304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8586216" y="1490472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94776" y="2011680"/>
            <a:ext cx="713232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84664" y="1737360"/>
            <a:ext cx="0" cy="146304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9701784" y="1490472"/>
            <a:ext cx="411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10344" y="2011680"/>
            <a:ext cx="713232" cy="960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148840"/>
            <a:ext cx="8686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A(m0,k0) × B(k0,n0)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 C0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01484" y="2157984"/>
            <a:ext cx="8686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A(m1,k0) × B(k0,n0)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 C1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2157984"/>
            <a:ext cx="8686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A(m0,k1) × B(k1,n0)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 C0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32620" y="2151549"/>
            <a:ext cx="86868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A(m1,k1) × B(k1,n0)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 C1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94576" y="3154680"/>
            <a:ext cx="2221992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812280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同一输出 subtile 的 recurrence distance =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如果 accumulator 放在 cmem，本地 read-modify-write 即可完成 K 维累加。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如果 accumulator 先落 dmem，再经 TMEM/TMA 回送，Lrecirc 往往远大于 2，流水容易冒泡。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36208" y="4800600"/>
            <a:ext cx="47548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结论： m16n8k16 / k32 / k64 这类“输出很窄、K 维很深”的 shape，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更适合 output-stationary / local accumulation。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661</Words>
  <Application>Microsoft Office PowerPoint</Application>
  <PresentationFormat>宽屏</PresentationFormat>
  <Paragraphs>156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TCU discussion diagrams</dc:title>
  <dc:subject>TCU discussion diagrams</dc:subject>
  <dc:creator>OpenAI</dc:creator>
  <cp:lastModifiedBy>BANGYU CHEN</cp:lastModifiedBy>
  <cp:revision>7</cp:revision>
  <dcterms:created xsi:type="dcterms:W3CDTF">2026-03-30T08:06:46Z</dcterms:created>
  <dcterms:modified xsi:type="dcterms:W3CDTF">2026-03-30T09:49:26Z</dcterms:modified>
</cp:coreProperties>
</file>